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4"/>
  </p:notesMasterIdLst>
  <p:handoutMasterIdLst>
    <p:handoutMasterId r:id="rId35"/>
  </p:handoutMasterIdLst>
  <p:sldIdLst>
    <p:sldId id="257" r:id="rId2"/>
    <p:sldId id="259" r:id="rId3"/>
    <p:sldId id="260" r:id="rId4"/>
    <p:sldId id="271" r:id="rId5"/>
    <p:sldId id="294" r:id="rId6"/>
    <p:sldId id="298" r:id="rId7"/>
    <p:sldId id="261" r:id="rId8"/>
    <p:sldId id="272" r:id="rId9"/>
    <p:sldId id="274" r:id="rId10"/>
    <p:sldId id="275" r:id="rId11"/>
    <p:sldId id="278" r:id="rId12"/>
    <p:sldId id="263" r:id="rId13"/>
    <p:sldId id="280" r:id="rId14"/>
    <p:sldId id="297" r:id="rId15"/>
    <p:sldId id="281" r:id="rId16"/>
    <p:sldId id="282" r:id="rId17"/>
    <p:sldId id="283" r:id="rId18"/>
    <p:sldId id="293" r:id="rId19"/>
    <p:sldId id="284" r:id="rId20"/>
    <p:sldId id="288" r:id="rId21"/>
    <p:sldId id="299" r:id="rId22"/>
    <p:sldId id="285" r:id="rId23"/>
    <p:sldId id="286" r:id="rId24"/>
    <p:sldId id="265" r:id="rId25"/>
    <p:sldId id="267" r:id="rId26"/>
    <p:sldId id="277" r:id="rId27"/>
    <p:sldId id="266" r:id="rId28"/>
    <p:sldId id="268" r:id="rId29"/>
    <p:sldId id="290" r:id="rId30"/>
    <p:sldId id="292" r:id="rId31"/>
    <p:sldId id="296" r:id="rId32"/>
    <p:sldId id="30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89911" autoAdjust="0"/>
  </p:normalViewPr>
  <p:slideViewPr>
    <p:cSldViewPr snapToGrid="0">
      <p:cViewPr varScale="1">
        <p:scale>
          <a:sx n="105" d="100"/>
          <a:sy n="105" d="100"/>
        </p:scale>
        <p:origin x="78" y="174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96EA6-6F25-4F19-87BA-7ADCC16DAEFF}" type="datetimeFigureOut">
              <a:rPr lang="en-US" smtClean="0"/>
              <a:t>3/13/2019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172E-A8B5-46F6-B05C-DFA3E2E0F207}" type="datetimeFigureOut">
              <a:rPr lang="en-US" smtClean="0"/>
              <a:t>3/13/2019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descriptions should be brief.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objectives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At the end of this lesson, you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 files to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Move files to different locations on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Share files on the team Web server.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objectives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At the end of this lesson, you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 files to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Move files to different locations on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Share files on the team Web server.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44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Example objectives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At the end of this lesson, you will be able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Save files to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Move files to different locations on the team Web server.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Share files on the team Web server.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2FD335-6D8E-486A-8F5F-DFC7325903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03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31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299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11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890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19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66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79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83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72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87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B302-F4DC-4547-9C74-CF794137D16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328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4E708F12-96AD-4ED4-8132-A78F5E42C1F5}" type="datetime1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8BEDD-6160-49BB-B372-861DE7DE9BA5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/>
          <a:lstStyle>
            <a:lvl5pPr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3/13/2019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C20F09E4-6EA4-4BF3-9FC8-FF40373B88E6}" type="datetime1">
              <a:rPr lang="en-US" smtClean="0"/>
              <a:pPr/>
              <a:t>3/13/2019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736" y="2389009"/>
            <a:ext cx="11896344" cy="1470025"/>
          </a:xfrm>
        </p:spPr>
        <p:txBody>
          <a:bodyPr>
            <a:normAutofit/>
          </a:bodyPr>
          <a:lstStyle/>
          <a:p>
            <a:r>
              <a:rPr lang="en-US" sz="4000" dirty="0"/>
              <a:t>An Introduction to Time Series and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/>
              <a:t>Skander Hannachi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What is Forecasting?   </a:t>
            </a:r>
          </a:p>
          <a:p>
            <a:r>
              <a:rPr lang="en-US" dirty="0"/>
              <a:t>Time Series Forecasting. </a:t>
            </a:r>
          </a:p>
          <a:p>
            <a:r>
              <a:rPr lang="en-US" dirty="0"/>
              <a:t>An overview of popular forecasting methods: </a:t>
            </a:r>
          </a:p>
          <a:p>
            <a:pPr lvl="1"/>
            <a:r>
              <a:rPr lang="en-US" dirty="0"/>
              <a:t>Basic methods (naive forecast, simple moving average) </a:t>
            </a:r>
          </a:p>
          <a:p>
            <a:pPr lvl="1"/>
            <a:r>
              <a:rPr lang="en-US" dirty="0"/>
              <a:t>Some useful concepts: seasonality, trend, </a:t>
            </a:r>
            <a:r>
              <a:rPr lang="en-US" dirty="0" err="1"/>
              <a:t>etc</a:t>
            </a:r>
            <a:r>
              <a:rPr lang="en-US" dirty="0"/>
              <a:t> ... </a:t>
            </a:r>
          </a:p>
          <a:p>
            <a:pPr lvl="1"/>
            <a:r>
              <a:rPr lang="en-US" dirty="0"/>
              <a:t>Exponential smoothing models </a:t>
            </a:r>
          </a:p>
          <a:p>
            <a:pPr lvl="1"/>
            <a:r>
              <a:rPr lang="en-US" dirty="0"/>
              <a:t>ARIMA models </a:t>
            </a:r>
          </a:p>
          <a:p>
            <a:pPr lvl="1"/>
            <a:r>
              <a:rPr lang="en-US" dirty="0"/>
              <a:t>Bayesian forecasting</a:t>
            </a:r>
          </a:p>
          <a:p>
            <a:pPr lvl="1"/>
            <a:r>
              <a:rPr lang="en-US" dirty="0"/>
              <a:t>Other/Advanced models: Neural Nets, GAM, Hidden Markov models </a:t>
            </a:r>
          </a:p>
          <a:p>
            <a:r>
              <a:rPr lang="en-US" dirty="0"/>
              <a:t> Useful software packages and tools</a:t>
            </a:r>
          </a:p>
          <a:p>
            <a:r>
              <a:rPr lang="en-US" dirty="0"/>
              <a:t> Further reading</a:t>
            </a:r>
          </a:p>
          <a:p>
            <a:r>
              <a:rPr lang="en-US" dirty="0"/>
              <a:t>How we do demand forecasting for merchandising purposes: </a:t>
            </a:r>
          </a:p>
          <a:p>
            <a:pPr lvl="1"/>
            <a:r>
              <a:rPr lang="en-US" dirty="0"/>
              <a:t>What is special about demand forecasting?</a:t>
            </a:r>
          </a:p>
          <a:p>
            <a:pPr lvl="1"/>
            <a:r>
              <a:rPr lang="en-US" dirty="0"/>
              <a:t>An overview of the methods we use at Nordstrom: </a:t>
            </a:r>
          </a:p>
          <a:p>
            <a:pPr lvl="1"/>
            <a:r>
              <a:rPr lang="en-US" dirty="0"/>
              <a:t>Exponential smoothing </a:t>
            </a:r>
          </a:p>
          <a:p>
            <a:pPr lvl="1"/>
            <a:r>
              <a:rPr lang="en-US" dirty="0"/>
              <a:t>Bayesian forecasting </a:t>
            </a:r>
          </a:p>
          <a:p>
            <a:pPr lvl="1"/>
            <a:r>
              <a:rPr lang="en-US" dirty="0"/>
              <a:t>Source level forecasting vs. Final level forecasting</a:t>
            </a:r>
          </a:p>
          <a:p>
            <a:pPr lvl="1"/>
            <a:r>
              <a:rPr lang="en-US" dirty="0"/>
              <a:t>Automatic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forecasting?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Predicting vs. forecasting ?</a:t>
            </a:r>
          </a:p>
          <a:p>
            <a:r>
              <a:rPr lang="en-US" dirty="0"/>
              <a:t>Forecasting: Predictors are in the past, dependent variable(s) is in the future. </a:t>
            </a:r>
          </a:p>
          <a:p>
            <a:r>
              <a:rPr lang="en-US" dirty="0"/>
              <a:t>Good predictors are hard to come by.</a:t>
            </a:r>
          </a:p>
          <a:p>
            <a:r>
              <a:rPr lang="en-US" dirty="0"/>
              <a:t>Time series forecasting: the only available predictors are the past values of the dependent variable. </a:t>
            </a:r>
          </a:p>
        </p:txBody>
      </p:sp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forecasting 101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457643"/>
              </p:ext>
            </p:extLst>
          </p:nvPr>
        </p:nvGraphicFramePr>
        <p:xfrm>
          <a:off x="769112" y="2817876"/>
          <a:ext cx="9245600" cy="3810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399849817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94753904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7847465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56989068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85250345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42283105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2282831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Monday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Tuesday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Wednesday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Thursday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Friday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Saturday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Sunday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594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?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?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587914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58889"/>
              </p:ext>
            </p:extLst>
          </p:nvPr>
        </p:nvGraphicFramePr>
        <p:xfrm>
          <a:off x="759968" y="3896868"/>
          <a:ext cx="9245600" cy="3810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402699574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54808039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51979989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6802084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747195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760433508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94654853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Monday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Tuesday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Wednesday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Thursday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Friday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Saturday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Sunday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09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1.85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3.04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?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?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935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97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" y="329184"/>
            <a:ext cx="10972800" cy="1066800"/>
          </a:xfrm>
        </p:spPr>
        <p:txBody>
          <a:bodyPr/>
          <a:lstStyle/>
          <a:p>
            <a:r>
              <a:rPr lang="en-US" dirty="0"/>
              <a:t>What is forecasting?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71856" y="1517904"/>
                <a:ext cx="10972800" cy="4325112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       </a:t>
                </a:r>
                <a:r>
                  <a:rPr lang="en-US" dirty="0"/>
                  <a:t>A time series</a:t>
                </a:r>
              </a:p>
              <a:p>
                <a:pPr marL="109728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? </a:t>
                </a:r>
                <a:r>
                  <a:rPr lang="en-US" dirty="0">
                    <a:sym typeface="Wingdings" panose="05000000000000000000" pitchFamily="2" charset="2"/>
                  </a:rPr>
                  <a:t> </a:t>
                </a:r>
                <a:r>
                  <a:rPr lang="en-US" dirty="0"/>
                  <a:t>One step ahead forecast</a:t>
                </a:r>
              </a:p>
              <a:p>
                <a:pPr marL="109728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? </a:t>
                </a:r>
                <a:r>
                  <a:rPr lang="en-US" dirty="0">
                    <a:sym typeface="Wingdings" panose="05000000000000000000" pitchFamily="2" charset="2"/>
                  </a:rPr>
                  <a:t></a:t>
                </a:r>
                <a:r>
                  <a:rPr lang="en-US" dirty="0"/>
                  <a:t>Multi-step forecast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Forecast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: Error term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: Noise term </a:t>
                </a:r>
              </a:p>
              <a:p>
                <a:pPr marL="109728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1856" y="1517904"/>
                <a:ext cx="10972800" cy="4325112"/>
              </a:xfrm>
              <a:blipFill>
                <a:blip r:embed="rId3"/>
                <a:stretch>
                  <a:fillRect t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660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456" y="521865"/>
            <a:ext cx="10972800" cy="1066800"/>
          </a:xfrm>
        </p:spPr>
        <p:txBody>
          <a:bodyPr/>
          <a:lstStyle/>
          <a:p>
            <a:r>
              <a:rPr lang="en-US" dirty="0"/>
              <a:t>Training vs. Test split for time series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495808" y="2705418"/>
          <a:ext cx="10968184" cy="1208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Worksheet" r:id="rId3" imgW="12201458" imgH="1343141" progId="Excel.Sheet.12">
                  <p:embed/>
                </p:oleObj>
              </mc:Choice>
              <mc:Fallback>
                <p:oleObj name="Worksheet" r:id="rId3" imgW="12201458" imgH="1343141" progId="Excel.Shee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808" y="2705418"/>
                        <a:ext cx="10968184" cy="12082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36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forecast.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462" y="2249424"/>
            <a:ext cx="5708338" cy="370331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Your best guest for the future is the present:</a:t>
                </a:r>
              </a:p>
              <a:p>
                <a:endParaRPr lang="en-US" dirty="0"/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Random Walk</a:t>
                </a:r>
                <a:r>
                  <a:rPr lang="en-US" b="0" dirty="0"/>
                  <a:t>: </a:t>
                </a:r>
              </a:p>
              <a:p>
                <a:endParaRPr lang="en-US" dirty="0"/>
              </a:p>
              <a:p>
                <a:pPr marL="978408" lvl="3" indent="0">
                  <a:buNone/>
                </a:pPr>
                <a:r>
                  <a:rPr lang="en-US" dirty="0"/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b="0" dirty="0"/>
              </a:p>
              <a:p>
                <a:pPr marL="109728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703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/ moving average forecast.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64" y="2341756"/>
            <a:ext cx="5896436" cy="382534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Your best guess is the mean of the series: </a:t>
                </a:r>
              </a:p>
              <a:p>
                <a:pPr marL="109728" indent="0">
                  <a:buNone/>
                </a:pPr>
                <a:r>
                  <a:rPr lang="en-US" dirty="0"/>
                  <a:t>        </a:t>
                </a:r>
              </a:p>
              <a:p>
                <a:pPr marL="109728" indent="0">
                  <a:buNone/>
                </a:pPr>
                <a:r>
                  <a:rPr lang="en-US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109728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𝑚𝑒𝑎𝑛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9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exponential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sz="half" idx="1"/>
              </p:nvPr>
            </p:nvSpPr>
            <p:spPr>
              <a:xfrm>
                <a:off x="-82296" y="2249425"/>
                <a:ext cx="6583680" cy="4341875"/>
              </a:xfrm>
            </p:spPr>
            <p:txBody>
              <a:bodyPr/>
              <a:lstStyle/>
              <a:p>
                <a:pPr marL="109728" indent="0">
                  <a:buNone/>
                </a:pPr>
                <a:r>
                  <a:rPr lang="en-US" dirty="0"/>
                  <a:t>Your best guess is a weighted average of your forecast and your actuals: </a:t>
                </a:r>
              </a:p>
              <a:p>
                <a:pPr marL="109728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09728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09728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109728" indent="0">
                  <a:buNone/>
                </a:pPr>
                <a:endParaRPr lang="en-US" dirty="0"/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∗[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109728" indent="0">
                  <a:buNone/>
                </a:pPr>
                <a:endParaRPr lang="en-US" dirty="0"/>
              </a:p>
              <a:p>
                <a:pPr marL="109728" indent="0">
                  <a:buNone/>
                </a:pPr>
                <a:r>
                  <a:rPr lang="en-US" dirty="0"/>
                  <a:t>                   </a:t>
                </a:r>
                <a:r>
                  <a:rPr lang="en-US" i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→ decaying weighted average</a:t>
                </a:r>
              </a:p>
              <a:p>
                <a:pPr marL="109728" indent="0">
                  <a:buNone/>
                </a:pPr>
                <a:endParaRPr lang="en-US" dirty="0"/>
              </a:p>
              <a:p>
                <a:pPr marL="109728" indent="0">
                  <a:buNone/>
                </a:pPr>
                <a:endParaRPr lang="en-US" dirty="0"/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-82296" y="2249425"/>
                <a:ext cx="6583680" cy="4341875"/>
              </a:xfrm>
              <a:blipFill>
                <a:blip r:embed="rId2"/>
                <a:stretch>
                  <a:fillRect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185" y="2249425"/>
            <a:ext cx="4858215" cy="3493422"/>
          </a:xfrm>
        </p:spPr>
      </p:pic>
    </p:spTree>
    <p:extLst>
      <p:ext uri="{BB962C8B-B14F-4D97-AF65-F5344CB8AC3E}">
        <p14:creationId xmlns:p14="http://schemas.microsoft.com/office/powerpoint/2010/main" val="396277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Interlude: </a:t>
            </a:r>
            <a:br>
              <a:rPr lang="en-US" dirty="0"/>
            </a:br>
            <a:r>
              <a:rPr lang="en-US" dirty="0"/>
              <a:t>Trend, Seasonality</a:t>
            </a:r>
            <a:r>
              <a:rPr lang="en-US"/>
              <a:t>, Residuals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2673683"/>
            <a:ext cx="5384800" cy="3493422"/>
          </a:xfr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673683"/>
            <a:ext cx="5384800" cy="3493422"/>
          </a:xfrm>
        </p:spPr>
      </p:pic>
    </p:spTree>
    <p:extLst>
      <p:ext uri="{BB962C8B-B14F-4D97-AF65-F5344CB8AC3E}">
        <p14:creationId xmlns:p14="http://schemas.microsoft.com/office/powerpoint/2010/main" val="276618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Interlude: </a:t>
            </a:r>
            <a:br>
              <a:rPr lang="en-US" dirty="0"/>
            </a:br>
            <a:r>
              <a:rPr lang="en-US" dirty="0"/>
              <a:t>Seasonality: Additive vs. Multiplicative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2673683"/>
            <a:ext cx="5384800" cy="3493422"/>
          </a:xfrm>
        </p:spPr>
      </p:pic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673683"/>
            <a:ext cx="5384800" cy="3493422"/>
          </a:xfrm>
        </p:spPr>
      </p:pic>
    </p:spTree>
    <p:extLst>
      <p:ext uri="{BB962C8B-B14F-4D97-AF65-F5344CB8AC3E}">
        <p14:creationId xmlns:p14="http://schemas.microsoft.com/office/powerpoint/2010/main" val="104909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" y="365760"/>
            <a:ext cx="109728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Double exponential smoothing</a:t>
            </a:r>
            <a:br>
              <a:rPr lang="en-US" dirty="0"/>
            </a:br>
            <a:r>
              <a:rPr lang="en-US" dirty="0"/>
              <a:t>Holt’s method – linear trend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2249425"/>
                <a:ext cx="5384800" cy="310895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Forecast has a level and a trend</a:t>
                </a:r>
              </a:p>
              <a:p>
                <a:r>
                  <a:rPr lang="en-US" dirty="0"/>
                  <a:t>Apply exponential smoothing to both</a:t>
                </a:r>
              </a:p>
              <a:p>
                <a:pPr lvl="1"/>
                <a:r>
                  <a:rPr lang="en-US" dirty="0"/>
                  <a:t>SES to calculate level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SES to calculate trend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Forecast </a:t>
                </a:r>
              </a:p>
              <a:p>
                <a:pPr marL="109728" lvl="1" indent="0">
                  <a:buClr>
                    <a:schemeClr val="accent3">
                      <a:lumMod val="75000"/>
                    </a:schemeClr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:pPr marL="109728" lvl="1" indent="0">
                  <a:buClr>
                    <a:schemeClr val="accent3">
                      <a:lumMod val="75000"/>
                    </a:schemeClr>
                  </a:buClr>
                  <a:buNone/>
                </a:pPr>
                <a:endParaRPr lang="en-US" dirty="0"/>
              </a:p>
              <a:p>
                <a:pPr marL="452628" lvl="1" indent="-342900">
                  <a:buClr>
                    <a:schemeClr val="accent3">
                      <a:lumMod val="75000"/>
                    </a:schemeClr>
                  </a:buClr>
                </a:pPr>
                <a:r>
                  <a:rPr lang="en-US" dirty="0"/>
                  <a:t>There’s also Exponential Trend and Damped trend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2249425"/>
                <a:ext cx="5384800" cy="3108959"/>
              </a:xfrm>
              <a:blipFill>
                <a:blip r:embed="rId3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09800"/>
            <a:ext cx="5714531" cy="3707337"/>
          </a:xfrm>
        </p:spPr>
      </p:pic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8" y="393192"/>
            <a:ext cx="109728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Triple exponential smoothing</a:t>
            </a:r>
            <a:br>
              <a:rPr lang="en-US" dirty="0"/>
            </a:br>
            <a:r>
              <a:rPr lang="en-US" dirty="0"/>
              <a:t>Holt-Winters method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0" y="662472"/>
            <a:ext cx="4840224" cy="314012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533400" y="1652017"/>
                <a:ext cx="5903976" cy="4341875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300"/>
                  </a:spcBef>
                  <a:buClr>
                    <a:schemeClr val="accent3">
                      <a:lumMod val="75000"/>
                    </a:schemeClr>
                  </a:buClr>
                  <a:buFont typeface="Georgia"/>
                  <a:buChar char="•"/>
                  <a:defRPr kumimoji="0"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58368" indent="-246888" algn="l" rtl="0" eaLnBrk="1" latinLnBrk="0" hangingPunct="1">
                  <a:spcBef>
                    <a:spcPts val="300"/>
                  </a:spcBef>
                  <a:buClr>
                    <a:schemeClr val="accent2">
                      <a:lumMod val="75000"/>
                    </a:schemeClr>
                  </a:buClr>
                  <a:buFont typeface="Georgia"/>
                  <a:buChar char="▫"/>
                  <a:defRPr kumimoji="0" sz="19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23544" indent="-219456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179576" indent="-201168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389888" indent="-182880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609344" indent="-182880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029968" indent="-182880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5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240280" indent="-182880" algn="l" rtl="0" eaLnBrk="1" latinLnBrk="0" hangingPunct="1">
                  <a:spcBef>
                    <a:spcPts val="300"/>
                  </a:spcBef>
                  <a:buClr>
                    <a:schemeClr val="accent1">
                      <a:lumMod val="50000"/>
                    </a:schemeClr>
                  </a:buClr>
                  <a:buFont typeface="Wingdings 2" panose="05020102010507070707" pitchFamily="18" charset="2"/>
                  <a:buChar char=""/>
                  <a:defRPr kumimoji="0" sz="1400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Forecast has a level and a trend</a:t>
                </a:r>
              </a:p>
              <a:p>
                <a:r>
                  <a:rPr lang="en-US" dirty="0"/>
                  <a:t>Apply exponential smoothing to both</a:t>
                </a:r>
              </a:p>
              <a:p>
                <a:pPr lvl="1"/>
                <a:r>
                  <a:rPr lang="en-US" dirty="0"/>
                  <a:t>SES to calculate level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SES to calculate trend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SES to calculate seasonal component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Forecast equation (additive):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Forecast equation (Multiplicative):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704088" lvl="2" indent="0">
                  <a:buNone/>
                </a:pPr>
                <a:endParaRPr lang="en-US" dirty="0"/>
              </a:p>
              <a:p>
                <a:pPr marL="704088" lvl="2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652017"/>
                <a:ext cx="5903976" cy="4341875"/>
              </a:xfrm>
              <a:prstGeom prst="rect">
                <a:avLst/>
              </a:prstGeom>
              <a:blipFill>
                <a:blip r:embed="rId4"/>
                <a:stretch>
                  <a:fillRect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0" y="3702013"/>
            <a:ext cx="4840224" cy="305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4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44" y="467829"/>
            <a:ext cx="10972800" cy="1066800"/>
          </a:xfrm>
        </p:spPr>
        <p:txBody>
          <a:bodyPr/>
          <a:lstStyle/>
          <a:p>
            <a:r>
              <a:rPr lang="en-US" dirty="0" err="1"/>
              <a:t>Croston’s</a:t>
            </a:r>
            <a:r>
              <a:rPr lang="en-US" dirty="0"/>
              <a:t>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44" y="1417320"/>
            <a:ext cx="10972800" cy="4325112"/>
          </a:xfrm>
        </p:spPr>
        <p:txBody>
          <a:bodyPr/>
          <a:lstStyle/>
          <a:p>
            <a:r>
              <a:rPr lang="en-US" dirty="0"/>
              <a:t>Intermittent/Sparse data 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2115590"/>
            <a:ext cx="4475389" cy="30458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722" y="3661146"/>
            <a:ext cx="1903976" cy="29072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722" y="758452"/>
            <a:ext cx="1900998" cy="29026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488936" y="1624441"/>
                <a:ext cx="3493008" cy="1824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Simple Exponential Smoothing: 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936" y="1624441"/>
                <a:ext cx="3493008" cy="1824859"/>
              </a:xfrm>
              <a:prstGeom prst="rect">
                <a:avLst/>
              </a:prstGeom>
              <a:blipFill>
                <a:blip r:embed="rId6"/>
                <a:stretch>
                  <a:fillRect l="-1571" t="-1667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88936" y="3751945"/>
                <a:ext cx="3493008" cy="1150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Forecast is ratio of values:  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8936" y="3751945"/>
                <a:ext cx="3493008" cy="1150892"/>
              </a:xfrm>
              <a:prstGeom prst="rect">
                <a:avLst/>
              </a:prstGeom>
              <a:blipFill>
                <a:blip r:embed="rId7"/>
                <a:stretch>
                  <a:fillRect l="-1571" t="-2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43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</a:t>
            </a:r>
            <a:r>
              <a:rPr lang="en-US" dirty="0" err="1"/>
              <a:t>Rregressive</a:t>
            </a:r>
            <a:r>
              <a:rPr lang="en-US" dirty="0"/>
              <a:t> Integrated Moving Average</a:t>
            </a:r>
          </a:p>
          <a:p>
            <a:r>
              <a:rPr lang="en-US" dirty="0"/>
              <a:t>Box &amp; Jenkins  1970. </a:t>
            </a:r>
          </a:p>
        </p:txBody>
      </p:sp>
    </p:spTree>
    <p:extLst>
      <p:ext uri="{BB962C8B-B14F-4D97-AF65-F5344CB8AC3E}">
        <p14:creationId xmlns:p14="http://schemas.microsoft.com/office/powerpoint/2010/main" val="17421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Auto-Regressive models: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AR(p) : Good Old fashion regression – </a:t>
                </a:r>
                <a:r>
                  <a:rPr lang="en-US" i="1" dirty="0"/>
                  <a:t>almost </a:t>
                </a:r>
              </a:p>
              <a:p>
                <a:pPr marL="109728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Use regression to calculate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9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Average: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MA(q):</a:t>
                </a:r>
              </a:p>
              <a:p>
                <a:pPr marL="109728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109728" indent="0">
                  <a:buNone/>
                </a:pPr>
                <a:endParaRPr lang="en-US" dirty="0"/>
              </a:p>
              <a:p>
                <a:r>
                  <a:rPr lang="en-US" dirty="0"/>
                  <a:t>Use maximum </a:t>
                </a:r>
                <a:r>
                  <a:rPr lang="en-US" dirty="0" err="1"/>
                  <a:t>likelyhood</a:t>
                </a:r>
                <a:r>
                  <a:rPr lang="en-US" dirty="0"/>
                  <a:t> to calculate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410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ARMA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ARMA(</a:t>
                </a:r>
                <a:r>
                  <a:rPr lang="en-US" dirty="0" err="1"/>
                  <a:t>p,q</a:t>
                </a:r>
                <a:r>
                  <a:rPr lang="en-US" dirty="0"/>
                  <a:t>) :</a:t>
                </a:r>
              </a:p>
              <a:p>
                <a:pPr marL="109728" indent="0">
                  <a:buNone/>
                </a:pPr>
                <a:r>
                  <a:rPr lang="en-US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4626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986" y="239845"/>
            <a:ext cx="10972800" cy="1066800"/>
          </a:xfrm>
        </p:spPr>
        <p:txBody>
          <a:bodyPr/>
          <a:lstStyle/>
          <a:p>
            <a:r>
              <a:rPr lang="en-US" dirty="0"/>
              <a:t>Stationarity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232" y="1408685"/>
            <a:ext cx="3845013" cy="24944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82" y="1408685"/>
            <a:ext cx="3866618" cy="25084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627" y="3900600"/>
            <a:ext cx="3866618" cy="250849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82" y="3917178"/>
            <a:ext cx="3841064" cy="249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4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3" y="3303790"/>
            <a:ext cx="3405846" cy="23683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535" y="3303791"/>
            <a:ext cx="3666166" cy="23784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232" y="3303791"/>
            <a:ext cx="3674380" cy="238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ARIMA(</a:t>
            </a:r>
            <a:r>
              <a:rPr lang="en-US" dirty="0" err="1"/>
              <a:t>p,d,q</a:t>
            </a:r>
            <a:r>
              <a:rPr lang="en-US" dirty="0"/>
              <a:t>)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2093976"/>
            <a:ext cx="10972800" cy="4325112"/>
          </a:xfrm>
        </p:spPr>
        <p:txBody>
          <a:bodyPr/>
          <a:lstStyle/>
          <a:p>
            <a:pPr marL="109728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3632" y="2310092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ARMA(</a:t>
            </a:r>
            <a:r>
              <a:rPr lang="en-US" dirty="0" err="1"/>
              <a:t>p,q</a:t>
            </a:r>
            <a:r>
              <a:rPr lang="en-US" dirty="0"/>
              <a:t>)  + differencing of order d </a:t>
            </a:r>
          </a:p>
          <a:p>
            <a:r>
              <a:rPr lang="en-US" dirty="0"/>
              <a:t>ARIMA(</a:t>
            </a:r>
            <a:r>
              <a:rPr lang="en-US" dirty="0" err="1"/>
              <a:t>p,d,q</a:t>
            </a:r>
            <a:r>
              <a:rPr lang="en-US" dirty="0"/>
              <a:t>) 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Font typeface="Georgia"/>
              <a:buNone/>
            </a:pPr>
            <a:r>
              <a:rPr lang="en-US" dirty="0"/>
              <a:t>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920" y="1877860"/>
            <a:ext cx="5745480" cy="423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2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ARIMA/SARIMA: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𝑅𝐼𝑀𝐴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388" y="1645920"/>
            <a:ext cx="6011770" cy="44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5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640080"/>
            <a:ext cx="10972800" cy="1066800"/>
          </a:xfrm>
        </p:spPr>
        <p:txBody>
          <a:bodyPr/>
          <a:lstStyle/>
          <a:p>
            <a:r>
              <a:rPr lang="en-US" dirty="0"/>
              <a:t>Choosing ARIMA orders: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960" y="1914728"/>
            <a:ext cx="5869708" cy="4324350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03632" y="2310092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Auto-Correlation Function </a:t>
            </a:r>
          </a:p>
          <a:p>
            <a:r>
              <a:rPr lang="en-US" dirty="0"/>
              <a:t>Partial Auto-Correlation Function 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Font typeface="Georgia"/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4029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time series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Bayes relationship </a:t>
            </a:r>
          </a:p>
          <a:p>
            <a:r>
              <a:rPr lang="en-US" dirty="0"/>
              <a:t>Calculate Prior Time Series model based on domain knowledge </a:t>
            </a:r>
          </a:p>
          <a:p>
            <a:r>
              <a:rPr lang="en-US" dirty="0"/>
              <a:t>Update Model as actuals come in </a:t>
            </a:r>
          </a:p>
        </p:txBody>
      </p:sp>
    </p:spTree>
    <p:extLst>
      <p:ext uri="{BB962C8B-B14F-4D97-AF65-F5344CB8AC3E}">
        <p14:creationId xmlns:p14="http://schemas.microsoft.com/office/powerpoint/2010/main" val="282259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Additive Models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19" y="2758440"/>
            <a:ext cx="4947090" cy="379588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610" y="2965570"/>
            <a:ext cx="4663134" cy="321345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86258" y="2114788"/>
            <a:ext cx="27478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/>
              <a:t>y(t) = g(t) + s(t) + h(t) + ε(t)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13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Space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State equation + Measurement equation</a:t>
                </a:r>
              </a:p>
              <a:p>
                <a:pPr marL="411480" lvl="1" indent="0">
                  <a:buNone/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pPr marL="411480" lvl="1" indent="0">
                  <a:buNone/>
                </a:pPr>
                <a:r>
                  <a:rPr lang="en-US" b="0" dirty="0"/>
                  <a:t>  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r>
                  <a:rPr lang="en-US" dirty="0"/>
                  <a:t>A very general framework: </a:t>
                </a:r>
              </a:p>
              <a:p>
                <a:pPr lvl="1"/>
                <a:r>
                  <a:rPr lang="en-US" dirty="0"/>
                  <a:t>Exponential smoothing </a:t>
                </a:r>
              </a:p>
              <a:p>
                <a:pPr lvl="1"/>
                <a:r>
                  <a:rPr lang="en-US" dirty="0"/>
                  <a:t>ARIMA </a:t>
                </a:r>
              </a:p>
              <a:p>
                <a:pPr lvl="1"/>
                <a:r>
                  <a:rPr lang="en-US" dirty="0"/>
                  <a:t>Bayesian models</a:t>
                </a:r>
              </a:p>
              <a:p>
                <a:pPr marL="41148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4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249424"/>
            <a:ext cx="5160264" cy="4325112"/>
          </a:xfrm>
        </p:spPr>
        <p:txBody>
          <a:bodyPr/>
          <a:lstStyle/>
          <a:p>
            <a:r>
              <a:rPr lang="en-US" sz="2000" dirty="0"/>
              <a:t>Multi-Layer </a:t>
            </a:r>
            <a:r>
              <a:rPr lang="en-US" sz="2000" dirty="0" err="1"/>
              <a:t>Perceptrons</a:t>
            </a:r>
            <a:r>
              <a:rPr lang="en-US" sz="2000" dirty="0"/>
              <a:t>:  </a:t>
            </a:r>
            <a:r>
              <a:rPr lang="en-US" sz="2000" i="1" dirty="0"/>
              <a:t>Good – but don’t have any memory </a:t>
            </a:r>
          </a:p>
          <a:p>
            <a:endParaRPr lang="en-US" sz="2000" dirty="0"/>
          </a:p>
          <a:p>
            <a:r>
              <a:rPr lang="en-US" sz="2000" dirty="0"/>
              <a:t>Recurrent Neural Networks: </a:t>
            </a:r>
            <a:r>
              <a:rPr lang="en-US" sz="2000" i="1" dirty="0"/>
              <a:t>Added feedback loop </a:t>
            </a:r>
          </a:p>
          <a:p>
            <a:pPr lvl="1"/>
            <a:r>
              <a:rPr lang="en-US" sz="2000" i="1" dirty="0"/>
              <a:t>have some memory </a:t>
            </a:r>
          </a:p>
          <a:p>
            <a:pPr lvl="1"/>
            <a:r>
              <a:rPr lang="en-US" sz="2000" i="1" dirty="0"/>
              <a:t>Tend to forget older data</a:t>
            </a:r>
          </a:p>
          <a:p>
            <a:r>
              <a:rPr lang="en-US" sz="2000" dirty="0"/>
              <a:t>Long-Short-Term-Memory: </a:t>
            </a:r>
            <a:r>
              <a:rPr lang="en-US" sz="2000" i="1" dirty="0"/>
              <a:t>More complicated Neuron with multiple internal states: </a:t>
            </a:r>
          </a:p>
          <a:p>
            <a:pPr lvl="1"/>
            <a:r>
              <a:rPr lang="en-US" sz="2000" i="1" dirty="0"/>
              <a:t>Can remember long term patterns </a:t>
            </a:r>
            <a:endParaRPr lang="en-US" sz="2000" dirty="0"/>
          </a:p>
          <a:p>
            <a:pPr marL="411480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061" y="1143000"/>
            <a:ext cx="3224842" cy="23877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119" y="3968125"/>
            <a:ext cx="4194136" cy="181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3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models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7318786" y="2447723"/>
            <a:ext cx="4263614" cy="4325112"/>
          </a:xfrm>
        </p:spPr>
        <p:txBody>
          <a:bodyPr/>
          <a:lstStyle/>
          <a:p>
            <a:r>
              <a:rPr lang="en-US" dirty="0"/>
              <a:t>TBATS</a:t>
            </a:r>
          </a:p>
          <a:p>
            <a:pPr marL="109728" indent="0">
              <a:buNone/>
            </a:pPr>
            <a:endParaRPr lang="en-US" dirty="0"/>
          </a:p>
          <a:p>
            <a:r>
              <a:rPr lang="en-US" dirty="0"/>
              <a:t>Temporal Aggregation 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762000" y="2401824"/>
            <a:ext cx="4240306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GARCH models: </a:t>
            </a:r>
          </a:p>
          <a:p>
            <a:pPr marL="109728" indent="0">
              <a:buFont typeface="Georgia"/>
              <a:buNone/>
            </a:pPr>
            <a:endParaRPr lang="en-US" dirty="0"/>
          </a:p>
          <a:p>
            <a:r>
              <a:rPr lang="en-US" dirty="0"/>
              <a:t>VAR models</a:t>
            </a:r>
          </a:p>
          <a:p>
            <a:endParaRPr lang="en-US" dirty="0"/>
          </a:p>
          <a:p>
            <a:r>
              <a:rPr lang="en-US" dirty="0"/>
              <a:t> Hierarchical Forecasting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3650428" y="5028485"/>
            <a:ext cx="7336715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Just about any supervised learning algorithm – SVM, RF, Boosted Trees,…. </a:t>
            </a:r>
          </a:p>
        </p:txBody>
      </p:sp>
    </p:spTree>
    <p:extLst>
      <p:ext uri="{BB962C8B-B14F-4D97-AF65-F5344CB8AC3E}">
        <p14:creationId xmlns:p14="http://schemas.microsoft.com/office/powerpoint/2010/main" val="153152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tools &amp; packages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126480" y="2447723"/>
            <a:ext cx="5455920" cy="4325112"/>
          </a:xfrm>
        </p:spPr>
        <p:txBody>
          <a:bodyPr/>
          <a:lstStyle/>
          <a:p>
            <a:r>
              <a:rPr lang="en-US" dirty="0"/>
              <a:t>Facebook Prophet</a:t>
            </a:r>
          </a:p>
          <a:p>
            <a:pPr lvl="1"/>
            <a:r>
              <a:rPr lang="en-US" dirty="0"/>
              <a:t>A variation on GAM</a:t>
            </a:r>
          </a:p>
          <a:p>
            <a:r>
              <a:rPr lang="en-US" dirty="0" err="1"/>
              <a:t>DeepAR</a:t>
            </a:r>
            <a:r>
              <a:rPr lang="en-US" dirty="0"/>
              <a:t> (Amazon)</a:t>
            </a:r>
          </a:p>
          <a:p>
            <a:r>
              <a:rPr lang="en-US" dirty="0" err="1"/>
              <a:t>Autobox</a:t>
            </a:r>
            <a:endParaRPr lang="en-US" dirty="0"/>
          </a:p>
          <a:p>
            <a:r>
              <a:rPr lang="en-US" dirty="0"/>
              <a:t>SPSS</a:t>
            </a:r>
          </a:p>
          <a:p>
            <a:r>
              <a:rPr lang="en-US" dirty="0"/>
              <a:t>SAS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761999" y="2401824"/>
            <a:ext cx="3599689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packages:</a:t>
            </a:r>
          </a:p>
          <a:p>
            <a:pPr lvl="1"/>
            <a:r>
              <a:rPr lang="en-US" dirty="0"/>
              <a:t>Forecast </a:t>
            </a:r>
          </a:p>
          <a:p>
            <a:r>
              <a:rPr lang="en-US" dirty="0"/>
              <a:t>S-Plus</a:t>
            </a:r>
          </a:p>
          <a:p>
            <a:r>
              <a:rPr lang="en-US" dirty="0"/>
              <a:t>Python </a:t>
            </a:r>
            <a:r>
              <a:rPr lang="en-US" dirty="0" err="1"/>
              <a:t>Statsmodels</a:t>
            </a:r>
            <a:endParaRPr lang="en-US" dirty="0"/>
          </a:p>
          <a:p>
            <a:r>
              <a:rPr lang="en-US" dirty="0" err="1"/>
              <a:t>Tensorflow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Tf.contrib.timeseries</a:t>
            </a:r>
            <a:endParaRPr lang="en-US" dirty="0"/>
          </a:p>
          <a:p>
            <a:pPr lvl="1"/>
            <a:r>
              <a:rPr lang="en-US" dirty="0"/>
              <a:t>AR models and State Space models</a:t>
            </a:r>
          </a:p>
        </p:txBody>
      </p:sp>
    </p:spTree>
    <p:extLst>
      <p:ext uri="{BB962C8B-B14F-4D97-AF65-F5344CB8AC3E}">
        <p14:creationId xmlns:p14="http://schemas.microsoft.com/office/powerpoint/2010/main" val="273553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6126480" y="2447723"/>
            <a:ext cx="5455920" cy="4325112"/>
          </a:xfrm>
        </p:spPr>
        <p:txBody>
          <a:bodyPr/>
          <a:lstStyle/>
          <a:p>
            <a:r>
              <a:rPr lang="en-US" dirty="0"/>
              <a:t>Accuracy Measures </a:t>
            </a:r>
          </a:p>
          <a:p>
            <a:endParaRPr lang="en-US" dirty="0"/>
          </a:p>
          <a:p>
            <a:r>
              <a:rPr lang="en-US" dirty="0"/>
              <a:t>Spectral / Frequency domain analysis </a:t>
            </a:r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761999" y="2401824"/>
            <a:ext cx="4376929" cy="432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>
                  <a:lumMod val="75000"/>
                </a:schemeClr>
              </a:buClr>
              <a:buFont typeface="Georgia"/>
              <a:buChar char="•"/>
              <a:defRPr kumimoji="0"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>
                  <a:lumMod val="75000"/>
                </a:schemeClr>
              </a:buClr>
              <a:buFont typeface="Georgia"/>
              <a:buChar char="▫"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1">
                  <a:lumMod val="50000"/>
                </a:schemeClr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Confidence intervals</a:t>
            </a:r>
          </a:p>
          <a:p>
            <a:endParaRPr lang="en-US" dirty="0"/>
          </a:p>
          <a:p>
            <a:r>
              <a:rPr lang="en-US" dirty="0"/>
              <a:t>Exogenous variables </a:t>
            </a:r>
          </a:p>
          <a:p>
            <a:endParaRPr lang="en-US" dirty="0"/>
          </a:p>
          <a:p>
            <a:r>
              <a:rPr lang="en-US" dirty="0"/>
              <a:t>Forecast Aggregation </a:t>
            </a:r>
          </a:p>
        </p:txBody>
      </p:sp>
    </p:spTree>
    <p:extLst>
      <p:ext uri="{BB962C8B-B14F-4D97-AF65-F5344CB8AC3E}">
        <p14:creationId xmlns:p14="http://schemas.microsoft.com/office/powerpoint/2010/main" val="202074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Fashion Retail Demand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Millions of time series  (~ 10K SKUs × 100 Stores) .</a:t>
            </a:r>
          </a:p>
          <a:p>
            <a:r>
              <a:rPr lang="en-US" dirty="0"/>
              <a:t>Short histories </a:t>
            </a:r>
          </a:p>
          <a:p>
            <a:r>
              <a:rPr lang="en-US" dirty="0"/>
              <a:t>Sparse time series </a:t>
            </a:r>
          </a:p>
          <a:p>
            <a:endParaRPr lang="en-US" dirty="0"/>
          </a:p>
          <a:p>
            <a:r>
              <a:rPr lang="en-US" dirty="0"/>
              <a:t>Data is highly seasonal </a:t>
            </a:r>
          </a:p>
          <a:p>
            <a:r>
              <a:rPr lang="en-US" dirty="0"/>
              <a:t>Data can be grouped in similar classes, departments, regions, ….</a:t>
            </a:r>
          </a:p>
          <a:p>
            <a:endParaRPr lang="en-US" dirty="0"/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5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1345" y="2860963"/>
            <a:ext cx="10972800" cy="1066800"/>
          </a:xfrm>
        </p:spPr>
        <p:txBody>
          <a:bodyPr/>
          <a:lstStyle/>
          <a:p>
            <a:r>
              <a:rPr lang="en-US" dirty="0"/>
              <a:t>Questions? </a:t>
            </a:r>
          </a:p>
        </p:txBody>
      </p:sp>
    </p:spTree>
    <p:extLst>
      <p:ext uri="{BB962C8B-B14F-4D97-AF65-F5344CB8AC3E}">
        <p14:creationId xmlns:p14="http://schemas.microsoft.com/office/powerpoint/2010/main" val="179418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4227</TotalTime>
  <Words>1096</Words>
  <Application>Microsoft Office PowerPoint</Application>
  <PresentationFormat>Widescreen</PresentationFormat>
  <Paragraphs>265</Paragraphs>
  <Slides>32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 Math</vt:lpstr>
      <vt:lpstr>Georgia</vt:lpstr>
      <vt:lpstr>Wingdings</vt:lpstr>
      <vt:lpstr>Wingdings 2</vt:lpstr>
      <vt:lpstr>Training presentation</vt:lpstr>
      <vt:lpstr>Worksheet</vt:lpstr>
      <vt:lpstr>An Introduction to Time Series and Demand Forecasting</vt:lpstr>
      <vt:lpstr>Session Outline</vt:lpstr>
      <vt:lpstr>What is forecasting?</vt:lpstr>
      <vt:lpstr>Time series forecasting 101</vt:lpstr>
      <vt:lpstr>What is forecasting?</vt:lpstr>
      <vt:lpstr>Training vs. Test split for time series</vt:lpstr>
      <vt:lpstr>Naïve forecast. </vt:lpstr>
      <vt:lpstr>Average / moving average forecast. </vt:lpstr>
      <vt:lpstr>Simple exponential smoothing</vt:lpstr>
      <vt:lpstr>Interlude:  Trend, Seasonality, Residuals</vt:lpstr>
      <vt:lpstr>Interlude:  Seasonality: Additive vs. Multiplicative</vt:lpstr>
      <vt:lpstr>Double exponential smoothing Holt’s method – linear trend </vt:lpstr>
      <vt:lpstr>Triple exponential smoothing Holt-Winters method </vt:lpstr>
      <vt:lpstr>Croston’s method</vt:lpstr>
      <vt:lpstr>ARIMA</vt:lpstr>
      <vt:lpstr>Auto-Regressive models:</vt:lpstr>
      <vt:lpstr>Moving Average:</vt:lpstr>
      <vt:lpstr>ARMA models</vt:lpstr>
      <vt:lpstr>Stationarity</vt:lpstr>
      <vt:lpstr>Differencing </vt:lpstr>
      <vt:lpstr>ARIMA(p,d,q)  </vt:lpstr>
      <vt:lpstr>Seasonal ARIMA/SARIMA:</vt:lpstr>
      <vt:lpstr>Choosing ARIMA orders:</vt:lpstr>
      <vt:lpstr>Bayesian time series models</vt:lpstr>
      <vt:lpstr>Generalized Additive Models</vt:lpstr>
      <vt:lpstr>State Space models</vt:lpstr>
      <vt:lpstr>Neural Networks </vt:lpstr>
      <vt:lpstr>Other models </vt:lpstr>
      <vt:lpstr>Software tools &amp; packages</vt:lpstr>
      <vt:lpstr>Further reading</vt:lpstr>
      <vt:lpstr>Challenges of Fashion Retail Demand Forecasting</vt:lpstr>
      <vt:lpstr>Questions?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Training Presentation</dc:title>
  <dc:creator>Hannachi, Skander</dc:creator>
  <cp:lastModifiedBy>Hannachi, Skander</cp:lastModifiedBy>
  <cp:revision>72</cp:revision>
  <dcterms:created xsi:type="dcterms:W3CDTF">2018-01-10T08:10:08Z</dcterms:created>
  <dcterms:modified xsi:type="dcterms:W3CDTF">2019-03-13T17:41:49Z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